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005840"/>
            <a:ext cx="3474720" cy="32004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100" b="1">
                <a:solidFill>
                  <a:srgbClr val="14532D"/>
                </a:solidFill>
                <a:latin typeface="Segoe UI"/>
              </a:defRPr>
            </a:pPr>
            <a:r>
              <a:t>📘 USER MANUAL LENGKAP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4532D"/>
                </a:solidFill>
                <a:latin typeface="Segoe UI"/>
              </a:defRPr>
            </a:pPr>
            <a:r>
              <a:t>BANK SAMPAH</a:t>
            </a:r>
          </a:p>
          <a:p>
            <a:pPr>
              <a:spcBef>
                <a:spcPts val="200"/>
              </a:spcBef>
              <a:defRPr sz="3600" b="1">
                <a:solidFill>
                  <a:srgbClr val="22C55E"/>
                </a:solidFill>
                <a:latin typeface="Segoe UI"/>
              </a:defRPr>
            </a:pPr>
            <a:r>
              <a:t>DIGITAL</a:t>
            </a:r>
          </a:p>
          <a:p>
            <a:pPr>
              <a:spcBef>
                <a:spcPts val="600"/>
              </a:spcBef>
              <a:defRPr sz="1500" i="1">
                <a:solidFill>
                  <a:srgbClr val="16A34A"/>
                </a:solidFill>
                <a:latin typeface="Segoe UI"/>
              </a:defRPr>
            </a:pPr>
            <a:r>
              <a:t>Solusi Cerdas untuk Masa Depan Bumi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Segoe UI"/>
              </a:defRPr>
            </a:pPr>
            <a:r>
              <a:t>Buku panduan pengoperasian sistem informasi Bank Sampah Digital berbasis web. Menjelaskan secara tuntas seluruh langkah penggunaan untuk 2 Role: Nasabah (Warga) &amp; Pengelola (Admin).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663440"/>
            <a:ext cx="2468880" cy="54864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50" b="1">
                <a:solidFill>
                  <a:srgbClr val="14532D"/>
                </a:solidFill>
                <a:latin typeface="Segoe UI"/>
              </a:defRPr>
            </a:pPr>
            <a:r>
              <a:t>👤 ROLE 1: NASABAH</a:t>
            </a:r>
            <a:br/>
            <a:r>
              <a:t>(Warga / Penyetor)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663440"/>
            <a:ext cx="2468880" cy="548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50" b="1">
                <a:solidFill>
                  <a:srgbClr val="1E40AF"/>
                </a:solidFill>
                <a:latin typeface="Segoe UI"/>
              </a:defRPr>
            </a:pPr>
            <a:r>
              <a:t>🛠️ ROLE 2: ADMIN</a:t>
            </a:r>
            <a:br/>
            <a:r>
              <a:t>(Pengelola &amp; Kasir)</a:t>
            </a:r>
          </a:p>
        </p:txBody>
      </p:sp>
      <p:pic>
        <p:nvPicPr>
          <p:cNvPr id="8" name="Picture 7" descr="reference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960120"/>
            <a:ext cx="448056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20" y="54406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Platform Next.js 16 • PostgreSQL Prisma • Versi 1.0 (2026)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📑 DAFTAR 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Agenda &amp; Navigasi Panduan Pengguna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Panduan ini dirancang bertahap mencakup pengenalan sistem, alur publik, dan kedua role operasional.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28800"/>
            <a:ext cx="21396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532D"/>
                </a:solidFill>
                <a:latin typeface="Segoe UI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300" b="1">
                <a:solidFill>
                  <a:srgbClr val="14532D"/>
                </a:solidFill>
                <a:latin typeface="Segoe UI"/>
              </a:defRPr>
            </a:pPr>
            <a:r>
              <a:t>Pengenalan &amp; Arsitektur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Sistem Bank Sampah Digital</a:t>
            </a:r>
          </a:p>
          <a:p>
            <a:pPr>
              <a:spcBef>
                <a:spcPts val="600"/>
              </a:spcBef>
              <a:defRPr sz="800">
                <a:solidFill>
                  <a:srgbClr val="64748B"/>
                </a:solidFill>
              </a:defRPr>
            </a:pPr>
            <a:r>
              <a:t>───────────────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Latar Belakang &amp; Tujuan Website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Konsep Ekonomi Sirkular Berbasis Web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Pemetaan Hak Akses 2 Role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Diagram Alur Bisnis Transaksi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828800"/>
            <a:ext cx="21396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Akses Publik &amp; Autentikasi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Registrasi &amp; Multi-Role Login</a:t>
            </a:r>
          </a:p>
          <a:p>
            <a:pPr>
              <a:spcBef>
                <a:spcPts val="600"/>
              </a:spcBef>
              <a:defRPr sz="800">
                <a:solidFill>
                  <a:srgbClr val="64748B"/>
                </a:solidFill>
              </a:defRPr>
            </a:pPr>
            <a:r>
              <a:t>───────────────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Eksplorasi Landing Page &amp; Edukasi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Prosedur Registrasi Akun Warga Baru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Login Single Portal Berbasis JWT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Auto-Redirect Menuju Dashboard Role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828800"/>
            <a:ext cx="21396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532D"/>
                </a:solidFill>
                <a:latin typeface="Segoe UI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300" b="1">
                <a:solidFill>
                  <a:srgbClr val="14532D"/>
                </a:solidFill>
                <a:latin typeface="Segoe UI"/>
              </a:defRPr>
            </a:pPr>
            <a:r>
              <a:t>Panduan Role Nasabah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Operasional Warga / Penyetor</a:t>
            </a:r>
          </a:p>
          <a:p>
            <a:pPr>
              <a:spcBef>
                <a:spcPts val="600"/>
              </a:spcBef>
              <a:defRPr sz="800">
                <a:solidFill>
                  <a:srgbClr val="64748B"/>
                </a:solidFill>
              </a:defRPr>
            </a:pPr>
            <a:r>
              <a:t>───────────────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Dashboard &amp; Saldo Tabungan Sampah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Formulir Setor Sampah &amp; Kalkulasi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Unggah Bukti Foto Fisik Sampah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Tracking Status (Pending/Approve/Reject)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Riwayat Finansial &amp; Rincian Transaksi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828800"/>
            <a:ext cx="21396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  <a:latin typeface="Segoe UI"/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300" b="1">
                <a:solidFill>
                  <a:srgbClr val="1E40AF"/>
                </a:solidFill>
                <a:latin typeface="Segoe UI"/>
              </a:defRPr>
            </a:pPr>
            <a:r>
              <a:t>Panduan Role Pengelola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Operasional Admin / Verifikator</a:t>
            </a:r>
          </a:p>
          <a:p>
            <a:pPr>
              <a:spcBef>
                <a:spcPts val="600"/>
              </a:spcBef>
              <a:defRPr sz="800">
                <a:solidFill>
                  <a:srgbClr val="64748B"/>
                </a:solidFill>
              </a:defRPr>
            </a:pPr>
            <a:r>
              <a:t>───────────────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Monitoring 8 Metrik Dashboard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Master Data: Jenis Sampah &amp; Tarif/Kg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Master Data: Wilayah Layanan DKI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Manajemen Pengguna / Nasabah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Verifikasi Laporan &amp; Auto Kredit Saldo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• Rekap Finansial &amp; Audit Transaksi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🔄 ALUR BISNIS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Arsitektur &amp; Siklus Transaksi Bank Sampah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Bagaimana data bergerak dari pemilahan sampah warga hingga pencairan saldo dan rekapitulasi admin.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011680" cy="20574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737360"/>
            <a:ext cx="502920" cy="320040"/>
          </a:xfrm>
          <a:prstGeom prst="round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737360"/>
            <a:ext cx="10972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Warga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Pilah &amp; Buat Laporan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Warga memilah sampah, memilih jenis &amp; wilayah di web, memasukkan berat estimasi, serta mengunggah foto bukti.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600200"/>
            <a:ext cx="20116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44951" y="1737360"/>
            <a:ext cx="502920" cy="320040"/>
          </a:xfrm>
          <a:prstGeom prst="round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39311" y="1737360"/>
            <a:ext cx="10972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Sistem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1" y="2148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Status PENDING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Laporan tersimpan di database dengan status PENDING dan langsung masuk ke antrean verifikasi Admin.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1600200"/>
            <a:ext cx="2011680" cy="20574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21224" y="1737360"/>
            <a:ext cx="5029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15584" y="1737360"/>
            <a:ext cx="10972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2148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Validasi Fisik &amp; Timbang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Petugas admin mengecek keaslian foto via Lightbox Zoom dan memasukkan berat riil hasil timbangan fisik.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0336" y="1600200"/>
            <a:ext cx="20116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97496" y="1737360"/>
            <a:ext cx="502920" cy="320040"/>
          </a:xfrm>
          <a:prstGeom prst="round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1737360"/>
            <a:ext cx="10972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Sistem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2148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Auto Kredit Saldo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Saat status diubah menjadi APPROVED, sistem mengalikan berat x tarif dan otomatis menambahkan saldo user!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36608" y="1600200"/>
            <a:ext cx="20116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73768" y="1737360"/>
            <a:ext cx="502920" cy="320040"/>
          </a:xfrm>
          <a:prstGeom prst="round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68128" y="1737360"/>
            <a:ext cx="10972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2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8" y="2148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Rekapitulasi Selesai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Warga melihat saldo bertambah di dashboard &amp; riwayat. Admin mendapatkan rekap transaksi keuangan otomatis.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840480"/>
            <a:ext cx="1072865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977639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  <a:latin typeface="Segoe UI"/>
              </a:defRPr>
            </a:pPr>
            <a:r>
              <a:t>⚖️ MATRIKS PERBANDINGAN HAK AKSES KEDUA ROLE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Fitur / Hak Akses      │  Role Nasabah / Warga (USER)                   │  Role Pengelola / Petugas (ADMIN)</a:t>
            </a:r>
          </a:p>
          <a:p>
            <a:pPr>
              <a:spcBef>
                <a:spcPts val="200"/>
              </a:spcBef>
              <a:defRPr sz="950" b="0">
                <a:solidFill>
                  <a:srgbClr val="1E293B"/>
                </a:solidFill>
                <a:latin typeface="Consolas"/>
              </a:defRPr>
            </a:pPr>
            <a:r>
              <a:t>•  Tujuan Utama           │  Melaporkan sampah daur ulang &amp; menabung saldo rupiah │  Memvalidasi laporan, kelola master data &amp; rekap keuangan</a:t>
            </a:r>
          </a:p>
          <a:p>
            <a:pPr>
              <a:spcBef>
                <a:spcPts val="200"/>
              </a:spcBef>
              <a:defRPr sz="950" b="0">
                <a:solidFill>
                  <a:srgbClr val="1E293B"/>
                </a:solidFill>
                <a:latin typeface="Consolas"/>
              </a:defRPr>
            </a:pPr>
            <a:r>
              <a:t>•  Akses Dashboard        │  Ringkasan Saldo Tabungan (Rp) &amp; 6 Laporan Terakhir │  Ringkasan 8 Metrik Operasional &amp; Feed Aktivitas Terkini</a:t>
            </a:r>
          </a:p>
          <a:p>
            <a:pPr>
              <a:spcBef>
                <a:spcPts val="200"/>
              </a:spcBef>
              <a:defRPr sz="950" b="0">
                <a:solidFill>
                  <a:srgbClr val="1E293B"/>
                </a:solidFill>
                <a:latin typeface="Consolas"/>
              </a:defRPr>
            </a:pPr>
            <a:r>
              <a:t>•  Pembuatan Laporan      │  Bisa: memilih jenis, wilayah, berat estimasi &amp; upload foto │  Tidak membuat laporan pribadi (khusus operasional verifikasi)</a:t>
            </a:r>
          </a:p>
          <a:p>
            <a:pPr>
              <a:spcBef>
                <a:spcPts val="200"/>
              </a:spcBef>
              <a:defRPr sz="950" b="0">
                <a:solidFill>
                  <a:srgbClr val="1E293B"/>
                </a:solidFill>
                <a:latin typeface="Consolas"/>
              </a:defRPr>
            </a:pPr>
            <a:r>
              <a:t>•  Aksi Verifikasi        │  Hanya melihat status (Pending, Approved, Rejected) │  Bisa mengubah status, mengoreksi berat timbangan riil</a:t>
            </a:r>
          </a:p>
          <a:p>
            <a:pPr>
              <a:spcBef>
                <a:spcPts val="200"/>
              </a:spcBef>
              <a:defRPr sz="950" b="0">
                <a:solidFill>
                  <a:srgbClr val="1E293B"/>
                </a:solidFill>
                <a:latin typeface="Consolas"/>
              </a:defRPr>
            </a:pPr>
            <a:r>
              <a:t>•  Pengelolaan Saldo      │  Melihat akumulasi saldo yang masuk secara otomatis │  Saldo otomatis ter-kredit ke nasabah saat status di-Approved</a:t>
            </a:r>
          </a:p>
          <a:p>
            <a:pPr>
              <a:spcBef>
                <a:spcPts val="200"/>
              </a:spcBef>
              <a:defRPr sz="950" b="0">
                <a:solidFill>
                  <a:srgbClr val="1E293B"/>
                </a:solidFill>
                <a:latin typeface="Consolas"/>
              </a:defRPr>
            </a:pPr>
            <a:r>
              <a:t>•  Master Data            │  Hanya membaca jenis sampah &amp; wilayah yang aktif │  CRUD penuh: Tambah, edit tarif/kg, hapus jenis &amp; wilayah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🌐 AKSES PUBLIK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Halaman Utama (Landing Page) &amp; Edukasi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Halaman awal yang dapat diakses publik tanpa login untuk mempelajari layanan bank sampah.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49377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572000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1. Navigasi &amp; Branding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Logo ♻️ Bank Sampah Digital dengan tautan cepat.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Menu navigasi: Home, Tentang Kami, dan FAQ.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Tombol Login terkemuka di sudut kanan atas untuk masuk ke sistem.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26664"/>
            <a:ext cx="4937760" cy="15087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572000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2. Nilai Unggulan Layanan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♻️ Ramah Lingkungan: Kurangi polusi melalui pemilahan terpadu.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💰 Bernilai Ekonomi: Sampah daur ulang menghasilkan pundi rupiah.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⚡ Proses Cepat: Laporan digital langsung diverifikasi admin.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🔒 Data Aman: Riwayat transaksi tersimpan rapi dan transparan.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493776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91456"/>
            <a:ext cx="457200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💡 Panduan Aksi Pengunjung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Klik 'Pelajari' untuk membaca 5 langkah alur daur ulang.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Klik 'Login' jika sudah memiliki akun.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Pengguna baru dapat mengklik 'Daftar' di halaman login.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72768"/>
            <a:ext cx="5577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7608" y="1682496"/>
            <a:ext cx="5358384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0078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🔴 🟡 🟢  bank-sampah-digital.local</a:t>
            </a:r>
          </a:p>
        </p:txBody>
      </p:sp>
      <p:pic>
        <p:nvPicPr>
          <p:cNvPr id="17" name="Picture 16" descr="01_landin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011680"/>
            <a:ext cx="5358384" cy="3611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80760" y="5705856"/>
            <a:ext cx="5212080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50" b="1">
                <a:solidFill>
                  <a:srgbClr val="14532D"/>
                </a:solidFill>
                <a:latin typeface="Segoe UI"/>
              </a:defRPr>
            </a:pPr>
            <a:r>
              <a:t>Tampilan Layar Halaman Utama (Hero Section) Bank Sampah Digital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📝 PENDAFTARAN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Registrasi Akun Nasabah (Warga Baru)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Proses pembuatan akun mandiri untuk warga yang ingin menyetorkan sampah dan menabung.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5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493776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57200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1. Formulir Registrasi Mandiri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Nama Lengkap: Nama asli penyetor untuk rekening tabungan.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Alamat Email: Email aktif untuk identitas login &amp; notifikasi.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Nomor Handphone: Nomor WhatsApp aktif untuk konfirmasi penjemputan.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Password: Kata sandi aman untuk melindungi akses akun Anda.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55264"/>
            <a:ext cx="4937760" cy="13258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4572000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2. Validasi &amp; Keamanan Sistem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Email &amp; Nomor HP wajib unik (tidak boleh ganda di sistem).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Password dienkripsi menggunakan hashing bcrypt tingkat tinggi.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Secara otomatis terdaftar dengan hak akses 'USER' (Nasabah).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09160"/>
            <a:ext cx="493776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37176"/>
            <a:ext cx="457200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✅ Langkah Selanjutnya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Setelah klik 'Daftar', sistem menyimpan data ke database.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Notifikasi sukses muncul dan halaman beralih ke form Login.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Gunakan email &amp; password yang baru dibuat untuk masuk.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72768"/>
            <a:ext cx="5577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7608" y="1682496"/>
            <a:ext cx="5358384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0078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🔴 🟡 🟢  bank-sampah-digital.local</a:t>
            </a:r>
          </a:p>
        </p:txBody>
      </p:sp>
      <p:pic>
        <p:nvPicPr>
          <p:cNvPr id="17" name="Picture 16" descr="05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011680"/>
            <a:ext cx="5358384" cy="3611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80760" y="5705856"/>
            <a:ext cx="5212080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50" b="1">
                <a:solidFill>
                  <a:srgbClr val="14532D"/>
                </a:solidFill>
                <a:latin typeface="Segoe UI"/>
              </a:defRPr>
            </a:pPr>
            <a:r>
              <a:t>Formulir Pendaftaran Nasabah Baru (/register) dengan Validasi Lengkap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🔐 AUTENTIKASI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Login Sistem &amp; Multi-Role Redirect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Portal masuk tunggal cerdas yang secara otomatis mengenali hak akses Admin maupun User.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6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49377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572000" cy="116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1. Mekanisme Login Tunggal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Masukkan Email &amp; Password yang telah terdaftar.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Klik tombol 'Login'. Sistem memverifikasi kredensial via API.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Autentikasi menggunakan JSON Web Token (JWT) yang disimpan secara aman di HTTP-only cookie.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18104"/>
            <a:ext cx="4937760" cy="132588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572000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2. Otomatisasi Pengalihan (Redirect)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Jika Akun Role 'USER' (Nasabah):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  -&gt; Langsung dialihkan ke /user/dashboard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Jika Akun Role 'ADMIN' (Pengelola):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  -&gt; Langsung dialihkan ke /admin/dashboard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4937760" cy="13716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00016"/>
            <a:ext cx="4572000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92400E"/>
                </a:solidFill>
                <a:latin typeface="Segoe UI"/>
              </a:defRPr>
            </a:pPr>
            <a:r>
              <a:t>⚠️ Catatan Keamanan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Jika password salah, muncul peringatan alert merah.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Sesi login tersimpan aman selama token masih aktif.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Untuk keluar, klik tombol 'Logout' di bilah navigasi atas.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72768"/>
            <a:ext cx="5577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7608" y="1682496"/>
            <a:ext cx="5358384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0078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🔴 🟡 🟢  bank-sampah-digital.local</a:t>
            </a:r>
          </a:p>
        </p:txBody>
      </p:sp>
      <p:pic>
        <p:nvPicPr>
          <p:cNvPr id="17" name="Picture 16" descr="04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011680"/>
            <a:ext cx="5358384" cy="3611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80760" y="5705856"/>
            <a:ext cx="5212080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50" b="1">
                <a:solidFill>
                  <a:srgbClr val="14532D"/>
                </a:solidFill>
                <a:latin typeface="Segoe UI"/>
              </a:defRPr>
            </a:pPr>
            <a:r>
              <a:t>Halaman Login (/login) Mendukung Autentikasi Role USER &amp; ADMIN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280160"/>
            <a:ext cx="3291840" cy="3657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200" b="1">
                <a:solidFill>
                  <a:srgbClr val="14532D"/>
                </a:solidFill>
                <a:latin typeface="Segoe UI"/>
              </a:defRPr>
            </a:pPr>
            <a:r>
              <a:t>👤 ROLE: NASABAH (USER)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830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532D"/>
                </a:solidFill>
                <a:latin typeface="Segoe UI"/>
              </a:defRPr>
            </a:pPr>
            <a:r>
              <a:t>BAGIAN I: PANDUAN ROLE NASABAH / WARGA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Petunjuk lengkap penggunaan portal nasabah untuk penyetoran sampah dan tabungan mandiri.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108960"/>
            <a:ext cx="40233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321868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Segoe UI"/>
              </a:defRPr>
            </a:pPr>
            <a:r>
              <a:t>📊 Dashboard Saldo &amp; Rekap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Melihat saldo simpanan rupiah secara real-time dan 6 laporan sampah terbaru beserta statusnya.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108960"/>
            <a:ext cx="40233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321868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Segoe UI"/>
              </a:defRPr>
            </a:pPr>
            <a:r>
              <a:t>📝 Formulir Setor Sampah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Memilih jenis sampah dengan harga per Kg otomatis, memilih wilayah penjemputan DKI Jakarta, dan input estimasi berat.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343400"/>
            <a:ext cx="40233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445312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Segoe UI"/>
              </a:defRPr>
            </a:pPr>
            <a:r>
              <a:t>📸 Unggah Foto Bukti Sampah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Mengunggah foto fisik sampah sebagai syarat verifikasi keaslian dan kelayakan oleh admin.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343400"/>
            <a:ext cx="40233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45312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Segoe UI"/>
              </a:defRPr>
            </a:pPr>
            <a:r>
              <a:t>📜 Riwayat &amp; Rincian Transaksi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Melihat riwayat transaksi yang disetujui (Approved) atau ditolak (Rejected) lengkap dengan bukti foto.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👤 NASABAH •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User Dashboard — Pantau Saldo &amp; Laporan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Pusat kendali nasabah menampilkan saldo simpanan rupiah dan ringkasan aktivitas.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8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49377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572000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1. Kartu Saldo Simpanan (Rp)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Menampilkan total tabungan rupiah hasil penyetoran sampah yang telah disetujui (Approved) oleh Admin.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Saldo bertambah secara otomatis setiap kali ada laporan yang disetujui, tanpa perlu input manual.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63824"/>
            <a:ext cx="4937760" cy="12344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4572000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2. Tombol Aksi Cepat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Tombol '+ Create Report': Membuka formulir pembuatan laporan penyetoran sampah baru.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Tombol 'View All': Membuka seluruh daftar laporan saya.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26280"/>
            <a:ext cx="493776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54296"/>
            <a:ext cx="457200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3. Kartu Laporan Terbaru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Menampilkan pratinjau foto sampah asli yang dapat diklik.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Menampilkan jenis sampah, wilayah pengambilan, estimasi berat, dan taksiran total nilai harga rupiah.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Badge Status: PENDING (Kuning), APPROVED (Hijau), REJECTED (Merah).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72768"/>
            <a:ext cx="5577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7608" y="1682496"/>
            <a:ext cx="5358384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0078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🔴 🟡 🟢  bank-sampah-digital.local</a:t>
            </a:r>
          </a:p>
        </p:txBody>
      </p:sp>
      <p:pic>
        <p:nvPicPr>
          <p:cNvPr id="17" name="Picture 16" descr="06_us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011680"/>
            <a:ext cx="5358384" cy="3611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80760" y="5705856"/>
            <a:ext cx="5212080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50" b="1">
                <a:solidFill>
                  <a:srgbClr val="14532D"/>
                </a:solidFill>
                <a:latin typeface="Segoe UI"/>
              </a:defRPr>
            </a:pPr>
            <a:r>
              <a:t>Tampilan User Dashboard (/user/dashboard) dengan Kartu Saldo &amp; Grid Laporan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👤 NASABAH • LANGKAH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Langkah 1: Mengisi Formulir Setor Sampah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Memilih komoditas sampah, zonasi wilayah pengambilan, dan berat timbangan.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9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49377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572000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Tahap 1: Pilih Jenis Sampah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Klik dropdown 'Jenis Sampah *'.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Pilih kategori yang sesuai (Botol Plastik, Kertas, Kardus, Logam, Elektronik, Kaca).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Label langsung mencantumkan tarif harga pasar per Kg (contoh: Rp 2.000/kg).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63824"/>
            <a:ext cx="4937760" cy="13716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4572000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Tahap 2: Pilih Wilayah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Pilih wilayah kecamatan domisili Anda di DKI Jakarta.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Opsi telah dikelompokkan rapi per Kota Administrasi (Jakarta Pusat, Barat, Selatan, Timur, Utara) untuk efisiensi rute.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49377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91456"/>
            <a:ext cx="4572000" cy="116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Tahap 3: Input Berat &amp; Total Harga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Masukkan estimasi berat sampah dalam kilogram (contoh: 5.5).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Kotak hijau otomatis muncul menghitung Total Taksiran Harga: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  Rumus: [Berat (Kg)] × [Harga per Kg]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72768"/>
            <a:ext cx="5577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7608" y="1682496"/>
            <a:ext cx="5358384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0078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🔴 🟡 🟢  bank-sampah-digital.local</a:t>
            </a:r>
          </a:p>
        </p:txBody>
      </p:sp>
      <p:pic>
        <p:nvPicPr>
          <p:cNvPr id="17" name="Picture 16" descr="07_user_laporan_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011680"/>
            <a:ext cx="5358384" cy="3611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80760" y="5705856"/>
            <a:ext cx="5212080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50" b="1">
                <a:solidFill>
                  <a:srgbClr val="14532D"/>
                </a:solidFill>
                <a:latin typeface="Segoe UI"/>
              </a:defRPr>
            </a:pPr>
            <a:r>
              <a:t>Formulir Setor Sampah (/user/laporan/create) dengan Kalkulasi Harga Real-Time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👤 NASABAH • LANGKAH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Langkah 2: Unggah Foto Bukti &amp; Kirim Laporan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Mengunggah foto fisik sampah sebagai bukti validasi sebelum dikirim ke admin.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10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49377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572000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Tahap 4: Unggah Foto Bukti Sampah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Klik pada input 'Choose File' / Foto Bukti *.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Pilih foto fisik sampah yang telah dipilah dari perangkat Anda (format .JPG, .PNG, .WEBP).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Pastikan foto terang, jelas, dan fokus pada tumpukan sampah yang dilaporkan.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9544"/>
            <a:ext cx="4937760" cy="132588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572000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Tahap 5: Pratinjau Foto Real-Time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Thumbnail pratinjau foto langsung muncul di bawah form.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Anda dapat memeriksa kembali apakah foto sudah sesuai sebelum mengklik tombol kirim.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49377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91456"/>
            <a:ext cx="4572000" cy="116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Tahap 6: Eksekusi Kirim Laporan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Klik tombol hijau 'Kirim Laporan'.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Sistem mengunggah foto ke storage dan menyimpan record.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Muncul alert 'Laporan berhasil dibuat!' dan otomatis diarahkan ke menu Laporan Saya.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72768"/>
            <a:ext cx="5577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7608" y="1682496"/>
            <a:ext cx="5358384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0078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🔴 🟡 🟢  bank-sampah-digital.local</a:t>
            </a:r>
          </a:p>
        </p:txBody>
      </p:sp>
      <p:pic>
        <p:nvPicPr>
          <p:cNvPr id="17" name="Picture 16" descr="07_user_laporan_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011680"/>
            <a:ext cx="5358384" cy="3611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80760" y="5705856"/>
            <a:ext cx="5212080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50" b="1">
                <a:solidFill>
                  <a:srgbClr val="14532D"/>
                </a:solidFill>
                <a:latin typeface="Segoe UI"/>
              </a:defRPr>
            </a:pPr>
            <a:r>
              <a:t>Upload Foto Bukti Sampah dengan Pratinjau Gambar Langsung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👤 NASABAH • LANGKAH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Langkah 3: Memantau Status Laporan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Melihat daftar seluruh laporan yang pernah diajukan dan memahami arti lencana status.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11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49377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572000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1. Menu 'Laporan Saya'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Dapat diakses via Sidebar menu '📋 Laporan Saya'.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Menampilkan seluruh pengajuan sampah Anda dalam format kartu modern teratur lengkap dengan tanggal pembuatan.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26664"/>
            <a:ext cx="4937760" cy="18288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57200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2. Memahami 3 Status Laporan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⏳ PENDING (Kuning): Laporan baru terkirim, sedang menunggu giliran verifikasi dan penimbangan fisik oleh petugas.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✅ APPROVED (Hijau): Laporan telah disetujui! Berat telah dikonfirmasi dan saldo rupiah otomatis masuk ke rekening tabungan Anda.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❌ REJECTED (Merah): Laporan ditolak jika foto buram, sampah tidak sesuai kategori, atau bercampur residu kotor.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83480"/>
            <a:ext cx="49377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11496"/>
            <a:ext cx="4572000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3. Aksi Detail Laporan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Klik tombol 'View Details →' untuk melihat rincian spesifik dari setiap pengajuan sampah Anda.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72768"/>
            <a:ext cx="5577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7608" y="1682496"/>
            <a:ext cx="5358384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0078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🔴 🟡 🟢  bank-sampah-digital.local</a:t>
            </a:r>
          </a:p>
        </p:txBody>
      </p:sp>
      <p:pic>
        <p:nvPicPr>
          <p:cNvPr id="17" name="Picture 16" descr="08_user_laporan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011680"/>
            <a:ext cx="5358384" cy="3611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80760" y="5705856"/>
            <a:ext cx="5212080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50" b="1">
                <a:solidFill>
                  <a:srgbClr val="14532D"/>
                </a:solidFill>
                <a:latin typeface="Segoe UI"/>
              </a:defRPr>
            </a:pPr>
            <a:r>
              <a:t>Halaman Laporan Saya (/user/laporan) Menampilkan Status Badge Dinamis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👤 NASABAH • LANGKAH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Langkah 4: Riwayat Setoran &amp; Filter Status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Halaman khusus menampung laporan yang telah diproses final (Approved atau Rejected).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493776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572000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1. Fungsi Menu Riwayat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Diakses melalui Sidebar '📜 Riwayat'.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Berfungsi sebagai buku tabungan digital untuk mencatat jejak rekam penyetoran sampah yang telah selesai diproses oleh admin.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72384"/>
            <a:ext cx="4937760" cy="15544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457200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2. Filter Status Cepat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Tombol 'Semua': Menampilkan gabungan approved &amp; rejected.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Tombol 'Approved': Memfilter hanya transaksi yang berhasil menghasilkan saldo rupiah.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Tombol 'Rejected': Memfilter pengajuan yang ditolak untuk bahan evaluasi pemilahan sampah ke depan.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49377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82896"/>
            <a:ext cx="4572000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3. Akses Detail Transaksi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Pada laporan yang APPROVED, terdapat tombol hijau 'Detail Transaksi →' untuk membuka nota kuitansi digital.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72768"/>
            <a:ext cx="5577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7608" y="1682496"/>
            <a:ext cx="5358384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0078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🔴 🟡 🟢  bank-sampah-digital.local</a:t>
            </a:r>
          </a:p>
        </p:txBody>
      </p:sp>
      <p:pic>
        <p:nvPicPr>
          <p:cNvPr id="17" name="Picture 16" descr="09_user_riway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011680"/>
            <a:ext cx="5358384" cy="3611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80760" y="5705856"/>
            <a:ext cx="5212080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50" b="1">
                <a:solidFill>
                  <a:srgbClr val="14532D"/>
                </a:solidFill>
                <a:latin typeface="Segoe UI"/>
              </a:defRPr>
            </a:pPr>
            <a:r>
              <a:t>Menu Riwayat (/user/riwayat) Dilengkapi Tab Filter Status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👤 NASABAH • LANGKAH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Langkah 5: Rincian Transaksi &amp; Saldo Bertambah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Memeriksa rincian bukti transaksi, tarif final, dan foto sampah yang disetujui.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493776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572000" cy="1344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1. Rincian Nota Transaksi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Jenis Sampah: Komoditas daur ulang yang disetor.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Harga Satuan: Tarif rupiah per kilogram saat transaksi disetujui.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Berat Terkonfirmasi: Berat riil hasil timbangan petugas.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Total Penghasilan: Nominal rupiah yang dikreditkan ke saldo.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00984"/>
            <a:ext cx="4937760" cy="14173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4572000" cy="116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2. Inspeksi Bukti Foto (Lightbox)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Foto bukti yang diunggah dapat diklik untuk membuka Lightbox Zoom layar penuh resolusi tinggi.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Menjadi bukti otentik transaksi yang transparan antara nasabah dan pihak bank sampah.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493776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74336"/>
            <a:ext cx="4572000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💰 Saldo Anda Telah Siap!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Dana otomatis tersimpan di saldo simpanan nasabah dan dapat dicairkan melalui pengelola bank sampah unit wilayah.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72768"/>
            <a:ext cx="5577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7608" y="1682496"/>
            <a:ext cx="5358384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0078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🔴 🟡 🟢  bank-sampah-digital.local</a:t>
            </a:r>
          </a:p>
        </p:txBody>
      </p:sp>
      <p:pic>
        <p:nvPicPr>
          <p:cNvPr id="17" name="Picture 16" descr="10_user_riwaya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011680"/>
            <a:ext cx="5358384" cy="3611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80760" y="5705856"/>
            <a:ext cx="5212080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50" b="1">
                <a:solidFill>
                  <a:srgbClr val="14532D"/>
                </a:solidFill>
                <a:latin typeface="Segoe UI"/>
              </a:defRPr>
            </a:pPr>
            <a:r>
              <a:t>Halaman Detail Riwayat Transaksi (/user/riwayat/[id]) dengan Lightbox Preview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280160"/>
            <a:ext cx="3291840" cy="3657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200" b="1">
                <a:solidFill>
                  <a:srgbClr val="14532D"/>
                </a:solidFill>
                <a:latin typeface="Segoe UI"/>
              </a:defRPr>
            </a:pPr>
            <a:r>
              <a:t>🛠️ ROLE: PENGELOLA (ADMIN)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830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532D"/>
                </a:solidFill>
                <a:latin typeface="Segoe UI"/>
              </a:defRPr>
            </a:pPr>
            <a:r>
              <a:t>BAGIAN II: PANDUAN ROLE PENGELOLA / ADMIN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Petunjuk lengkap pengoperasian dashboard manajemen, verifikasi laporan, dan audit finansial.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108960"/>
            <a:ext cx="40233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321868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Segoe UI"/>
              </a:defRPr>
            </a:pPr>
            <a:r>
              <a:t>📊 Dashboard 8 Metrik Analitik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Monitoring jumlah user, jenis sampah, wilayah, total laporan, status pending/approved/rejected, dan transaksi.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108960"/>
            <a:ext cx="40233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321868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Segoe UI"/>
              </a:defRPr>
            </a:pPr>
            <a:r>
              <a:t>🗑️ Master Data Jenis Sampah &amp; Tarif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Menambah, mengedit harga beli pasar per Kg, dan mengelola komoditas daur ulang yang diterima.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343400"/>
            <a:ext cx="40233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445312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Segoe UI"/>
              </a:defRPr>
            </a:pPr>
            <a:r>
              <a:t>✅ Verifikasi &amp; Auto Kredit Saldo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Memeriksa foto bukti, mengoreksi berat timbangan riil, serta menyetujui laporan yang otomatis menambah saldo user.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343400"/>
            <a:ext cx="40233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453128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Segoe UI"/>
              </a:defRPr>
            </a:pPr>
            <a:r>
              <a:t>💰 Audit &amp; Rekapitulasi Transaksi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Melihat rekap keuangan transaksi berhasil, total nilai perputaran rupiah, dan pencarian transaksi berbasis nama.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🛠️ ADMIN •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Admin Dashboard — 8 Metrik &amp; Aktivitas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Pusat pemantauan eksekutif operasional bank sampah secara holistik dan real-time.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15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493776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572000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1. Penjelasan 8 Kartu Metrik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Total User: Akumulasi seluruh nasabah terdaftar di sistem.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Jenis Sampah &amp; Wilayah: Cakupan komoditas &amp; wilayah aktif.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Total Laporan: Jumlah seluruh laporan masuk dari awal.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Pending / Approved / Rejected: Distribusi status laporan.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Transaksi: Total transaksi sukses yang telah disetujui.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92424"/>
            <a:ext cx="4937760" cy="13258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4572000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2. Feed Aktivitas Real-Time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Menampilkan 5 pengajuan sampah terkini.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Dilengkapi ikon status dinamis (✅ Approved, ❌ Rejected, ⏳ Pending) untuk deteksi cepat laporan baru masuk.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493776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74336"/>
            <a:ext cx="4572000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3. Akses Cepat Antrean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Tabel 'Laporan Terbaru' di bagian bawah memberikan ringkasan user, jenis sampah, berat timbangan, dan tombol kelola.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72768"/>
            <a:ext cx="5577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7608" y="1682496"/>
            <a:ext cx="5358384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0078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🔴 🟡 🟢  bank-sampah-digital.local</a:t>
            </a:r>
          </a:p>
        </p:txBody>
      </p:sp>
      <p:pic>
        <p:nvPicPr>
          <p:cNvPr id="17" name="Picture 16" descr="11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011680"/>
            <a:ext cx="5358384" cy="3611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80760" y="5705856"/>
            <a:ext cx="5212080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50" b="1">
                <a:solidFill>
                  <a:srgbClr val="14532D"/>
                </a:solidFill>
                <a:latin typeface="Segoe UI"/>
              </a:defRPr>
            </a:pPr>
            <a:r>
              <a:t>Tampilan Admin Dashboard (/admin/dashboard) dengan 8 Kartu Metrik Utama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🛠️ ADMIN • LANGKAH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Langkah 1: Kelola Master Data Jenis Sampah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Mengatur jenis komoditas sampah daur ulang dan menetapkan harga beli per kilogram.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16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493776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57200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1. Fungsi Master Jenis Sampah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Diakses melalui Sidebar '🗑️ Jenis Sampah'.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Menjadi acuan tarif bagi seluruh formulir laporan nasabah.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Contoh default: Botol Plastik (Rp 2.000), Kertas (Rp 1.500), Kardus (Rp 1.800), Logam (Rp 5.000), Elektronik (Rp 3.000).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55264"/>
            <a:ext cx="4937760" cy="14630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4572000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2. Tambah Jenis Sampah Baru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Klik tombol '+ Tambah Jenis Sampah'.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Masukkan Nama Jenis Sampah (misal: 'Aluminium Kaleng').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Masukkan Harga per Kg (misal: '8500').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Klik 'Simpan'. Kategori langsung aktif di pilihan warga.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493776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74336"/>
            <a:ext cx="4572000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3. Edit Tarif &amp; Hapus Data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Klik ikon ✏️ Edit untuk menyesuaikan fluktuasi harga pasar.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Klik ikon 🗑️ Hapus untuk menonaktifkan kategori sampah.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72768"/>
            <a:ext cx="5577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7608" y="1682496"/>
            <a:ext cx="5358384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0078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🔴 🟡 🟢  bank-sampah-digital.local</a:t>
            </a:r>
          </a:p>
        </p:txBody>
      </p:sp>
      <p:pic>
        <p:nvPicPr>
          <p:cNvPr id="17" name="Picture 16" descr="16_admin_jenis_samp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011680"/>
            <a:ext cx="5358384" cy="3611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80760" y="5705856"/>
            <a:ext cx="5212080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50" b="1">
                <a:solidFill>
                  <a:srgbClr val="14532D"/>
                </a:solidFill>
                <a:latin typeface="Segoe UI"/>
              </a:defRPr>
            </a:pPr>
            <a:r>
              <a:t>Tabel Master Data Jenis Sampah (/admin/jenis-sampah) dengan Aksi CRUD Penuh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🛠️ ADMIN • LANGKAH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Langkah 2: Kelola Master Data Wilayah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Mengatur zonasi operasional Bank Sampah Digital di wilayah DKI Jakarta.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17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49377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572000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1. Zonasi Layanan DKI Jakarta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Diakses melalui Sidebar '📍 Wilayah'.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Mencakup kecamatan di 5 Kota Administrasi: Jakarta Pusat, Jakarta Barat, Jakarta Selatan, Jakarta Timur, Jakarta Utara.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Membantu koordinasi armada penjemputan sampah per sektor.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9544"/>
            <a:ext cx="4937760" cy="1463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572000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2. Tambah Wilayah Operasional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Klik '+ Tambah Wilayah' jika bank sampah memperluas cakupan ke kelurahan atau kecamatan baru.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Masukkan Nama Wilayah dan pilih Kota Administrasi.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Data langsung tersedia pada dropdown formulir nasabah.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00600"/>
            <a:ext cx="493776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28616"/>
            <a:ext cx="457200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3. Pemeliharaan Data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Wilayah yang masih memiliki relasi dengan laporan aktif dilindungi sistem dari penghapusan tidak sengaja (onDelete Restrict).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72768"/>
            <a:ext cx="5577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7608" y="1682496"/>
            <a:ext cx="5358384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0078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🔴 🟡 🟢  bank-sampah-digital.local</a:t>
            </a:r>
          </a:p>
        </p:txBody>
      </p:sp>
      <p:pic>
        <p:nvPicPr>
          <p:cNvPr id="17" name="Picture 16" descr="18_admin_wilay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011680"/>
            <a:ext cx="5358384" cy="3611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80760" y="5705856"/>
            <a:ext cx="5212080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50" b="1">
                <a:solidFill>
                  <a:srgbClr val="14532D"/>
                </a:solidFill>
                <a:latin typeface="Segoe UI"/>
              </a:defRPr>
            </a:pPr>
            <a:r>
              <a:t>Tabel Master Data Wilayah (/admin/wilayah) Berdasarkan Kota Administrasi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🛠️ ADMIN • LANGKAH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Langkah 3: Manajemen Data Pengguna (Users)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Memantau seluruh akun nasabah yang terdaftar beserta data partisipasi laporan.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18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493776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57200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1. Direktori Nasabah Terpusat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Diakses via Sidebar '👥 User'.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Menampilkan daftar seluruh pengguna yang mendaftar.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Data mencakup: Nama Lengkap, Alamat Email, Nomor Handphone / WhatsApp, Role Akses, Jumlah Laporan, dan Tanggal Bergabung.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55264"/>
            <a:ext cx="4937760" cy="14173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4572000" cy="116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2. Indikator Keaktifan Nasabah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Kolom 'Jumlah Laporan' memberikan wawasan langsung mengenai seberapa aktif warga menyetorkan sampah daur ulang.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Memudahkan pemberian reward atau apresiasi warga peduli lingkungan.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00600"/>
            <a:ext cx="493776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28616"/>
            <a:ext cx="457200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3. Rincian Pengguna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Klik tombol 👁️ pada baris pengguna untuk melihat profil lengkap, riwayat penyetoran, dan akumulasi saldo tabungan.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72768"/>
            <a:ext cx="5577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7608" y="1682496"/>
            <a:ext cx="5358384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0078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🔴 🟡 🟢  bank-sampah-digital.local</a:t>
            </a:r>
          </a:p>
        </p:txBody>
      </p:sp>
      <p:pic>
        <p:nvPicPr>
          <p:cNvPr id="17" name="Picture 16" descr="19_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011680"/>
            <a:ext cx="5358384" cy="3611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80760" y="5705856"/>
            <a:ext cx="5212080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50" b="1">
                <a:solidFill>
                  <a:srgbClr val="14532D"/>
                </a:solidFill>
                <a:latin typeface="Segoe UI"/>
              </a:defRPr>
            </a:pPr>
            <a:r>
              <a:t>Tabel Manajemen Pengguna (/admin/users) dengan Statistik Laporan per User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🛠️ ADMIN • LANGKAH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Langkah 4: Antrean Verifikasi Laporan Masuk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Memantau seluruh laporan yang diajukan oleh nasabah dan siap diverifikasi.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19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493776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572000" cy="1344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1. Antrean Laporan Terpusat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Diakses melalui Sidebar '📋 Laporan'.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Menampilkan seluruh kiriman laporan dari warga secara kronologis (laporan terbaru berada di urutan teratas).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Menampilkan thumbnail foto sampah, nama user, komoditas sampah, wilayah, berat estimasi, dan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00984"/>
            <a:ext cx="4937760" cy="13716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4572000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92400E"/>
                </a:solidFill>
                <a:latin typeface="Segoe UI"/>
              </a:defRPr>
            </a:pPr>
            <a:r>
              <a:t>2. Prioritas Verifikasi PENDING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Fokuskan pemeriksaan pada laporan dengan lencana kuning 'PENDING'.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Laporan pending menandakan sampah baru saja disetor dan menunggu konfirmasi penimbangan fisik.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00600"/>
            <a:ext cx="493776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28616"/>
            <a:ext cx="457200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3. Membuka Ruang Validasi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Klik tombol 👁️ 'Detail' pada baris laporan untuk membuka lembar kerja validasi fisik dan penetapan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72768"/>
            <a:ext cx="5577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7608" y="1682496"/>
            <a:ext cx="5358384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0078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🔴 🟡 🟢  bank-sampah-digital.local</a:t>
            </a:r>
          </a:p>
        </p:txBody>
      </p:sp>
      <p:pic>
        <p:nvPicPr>
          <p:cNvPr id="17" name="Picture 16" descr="12_admin_laporan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011680"/>
            <a:ext cx="5358384" cy="3611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80760" y="5705856"/>
            <a:ext cx="5212080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50" b="1">
                <a:solidFill>
                  <a:srgbClr val="14532D"/>
                </a:solidFill>
                <a:latin typeface="Segoe UI"/>
              </a:defRPr>
            </a:pPr>
            <a:r>
              <a:t>Daftar Seluruh Laporan Masuk (/admin/laporan) dengan Status Pending &amp; Approved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🛠️ ADMIN • LANGKAH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Langkah 5: Validasi Fisik &amp; Auto Kredit Saldo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Proses krusial memeriksa bukti foto, kalibrasi timbangan, dan eksekusi saldo otomatis.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20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49377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572000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Tahap 1: Inspeksi Foto Bukti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Klik foto sampah untuk membuka Lightbox Zoom layar penuh.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Periksa apakah sampah bersih, kering, dan sesuai dengan kategori yang dipilih nasabah.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26664"/>
            <a:ext cx="49377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572000" cy="116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Tahap 2: Koreksi Berat Timbangan Riil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Petugas dapat mengoreksi kolom 'Berat (Kg)' sesuai angka aktual timbangan di lapangan.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Total harga akan langsung diperbarui otomatis berdasarkan tarif per Kg yang berlaku.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4937760" cy="155448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00016"/>
            <a:ext cx="457200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Tahap 3: Eksekusi Status &amp; Saldo Otomatis!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Pilih APPROVED -&gt; Sistem SECARA OTOMATIS mengkreditkan saldo rupiah ke rekening nasabah!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Pilih REJECTED -&gt; Laporan ditolak jika sampah tidak memenuhi standar kelayakan daur ulang.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Klik 'Update Laporan' untuk menyelesaikan transaksi.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72768"/>
            <a:ext cx="5577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7608" y="1682496"/>
            <a:ext cx="5358384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0078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🔴 🟡 🟢  bank-sampah-digital.local</a:t>
            </a:r>
          </a:p>
        </p:txBody>
      </p:sp>
      <p:pic>
        <p:nvPicPr>
          <p:cNvPr id="17" name="Picture 16" descr="13_admin_verifikasi_lapor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011680"/>
            <a:ext cx="5358384" cy="3611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80760" y="5705856"/>
            <a:ext cx="5212080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50" b="1">
                <a:solidFill>
                  <a:srgbClr val="14532D"/>
                </a:solidFill>
                <a:latin typeface="Segoe UI"/>
              </a:defRPr>
            </a:pPr>
            <a:r>
              <a:t>Formulir Verifikasi Admin (/admin/laporan/[id]) — Approval Otomatis Tambah Saldo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🛠️ ADMIN • LANGKAH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Langkah 6: Rekapitulasi Finansial &amp; Transaksi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Audit seluruh transaksi yang disetujui, total perputaran rupiah, dan pencarian cepat.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21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49377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572000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1. Kartu Ringkasan Finansial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Total Transaksi: Jumlah transaksi sah yang telah disetujui.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Total Nilai: Akumulasi perputaran dana rupiah yang telah disalurkan kepada nasabah bank sampah.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26664"/>
            <a:ext cx="4937760" cy="13258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572000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2. Fitur Pencarian Cepat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Dilengkapi kolom pencarian nama user/nasabah.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Ketik nama nasabah dan klik tombol 🔍 untuk mengaudit riwayat penyetoran individu dalam hitungan detik.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493776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08576"/>
            <a:ext cx="4572000" cy="1344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4532D"/>
                </a:solidFill>
                <a:latin typeface="Segoe UI"/>
              </a:defRPr>
            </a:pPr>
            <a:r>
              <a:t>3. Detail Kuitansi &amp; Arsip Transaksi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Klik tombol '👁️ Detail' pada baris transaksi untuk melihat nota transaksi lengkap (/admin/transaksi/[id]).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• Berfungsi sebagai data arsip resmi pembukuan kas bank sampah.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72768"/>
            <a:ext cx="5577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07608" y="1682496"/>
            <a:ext cx="5358384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0078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🔴 🟡 🟢  bank-sampah-digital.local</a:t>
            </a:r>
          </a:p>
        </p:txBody>
      </p:sp>
      <p:pic>
        <p:nvPicPr>
          <p:cNvPr id="17" name="Picture 16" descr="14_admin_transaksi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011680"/>
            <a:ext cx="5358384" cy="3611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80760" y="5705856"/>
            <a:ext cx="5212080" cy="256032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950" b="1">
                <a:solidFill>
                  <a:srgbClr val="14532D"/>
                </a:solidFill>
                <a:latin typeface="Segoe UI"/>
              </a:defRPr>
            </a:pPr>
            <a:r>
              <a:t>Halaman Transaksi Admin (/admin/transaksi) dengan Metrik Perputaran Dana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📋 STANDAR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SOP &amp; Panduan Praktik Terbaik (Best Practice)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Pedoman operasional standar untuk menjamin keakuratan data dan kelancaran transaksi bank sampah.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22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285232" cy="448056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482803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532D"/>
                </a:solidFill>
                <a:latin typeface="Segoe UI"/>
              </a:defRPr>
            </a:pPr>
            <a:r>
              <a:t>👤 PANDUAN UNTUK NASABAH / WARGA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Pilah Sampah Sejak dari Rumah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Pisahkan sampah organik basah dari anorganik kering. Cuci dan keringkan botol plastik atau kaleng sebelum dilaporkan.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Pengambilan Foto yang Jelas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Foto sampah di tempat dengan pencahayaan cukup. Tampilkan keseluruhan wadah/karung agar petugas mudah mengestimasi.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Estimasi Berat yang Wajar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Gunakan timbangan gantung sederhana di rumah bila ada untuk mempermudah perkiraan berat awal.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Pantau Notifikasi Status Laporan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Cek menu Laporan Saya secara berkala. Jika status APPROVED, pastikan saldo tabungan Anda bertambah di Dashboard.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Pencairan Saldo Simpanan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Koordinasikan jadwal penarikan saldo dengan pengelola bank sampah unit wilayah Anda.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82803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40AF"/>
                </a:solidFill>
                <a:latin typeface="Segoe UI"/>
              </a:defRPr>
            </a:pPr>
            <a:r>
              <a:t>🛠️ PANDUAN UNTUK PENGELOLA / ADMIN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Verifikasi Rutin Minimal 2x Sehari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Periksa antrean laporan PENDING setiap pagi dan sore hari untuk menjaga kepuasan dan kepercayaan nasabah.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Kalibrasi Timbangan Lapangan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Pastikan timbangan petugas telah dikalibrasi. Input angka berat riil yang presisi ke dalam sistem sebelum menekan tombol Approved.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Gunakan Fitur Lightbox Zoom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Selalu buka foto bukti ukuran penuh untuk mengecek apakah sampah tidak tercampur batu, air, atau sampah terlarang.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Penyesuaian Tarif Pasar Berkala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Update harga jenis sampah secara berkala di menu Jenis Sampah sesuai fluktuasi harga pengepul industri daur ulang.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Rekonsiliasi Kas &amp; Saldo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Cocokkan data Total Nilai Transaksi di sistem dengan kas keluar bank sampah setiap akhir pekan.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292608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14532D"/>
                </a:solidFill>
                <a:latin typeface="Segoe UI"/>
              </a:defRPr>
            </a:pPr>
            <a:r>
              <a:t>❓ TANYA JAWAB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Frequently Asked Questions (FAQ) &amp; Solusi Kendala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Solusi cepat atas pertanyaan dan kendala teknis yang kerap ditemui pengguna sistem.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103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♻️ Bank Sampah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23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728655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10332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532D"/>
                </a:solidFill>
                <a:latin typeface="Segoe UI"/>
              </a:defRPr>
            </a:pPr>
            <a:r>
              <a:t>1. Mengapa saldo simpanan saya belum bertambah setelah kirim laporan?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Saldo baru akan bertambah secara otomatis saat laporan Anda telah diperiksa dan statusnya diubah menjadi APPROVED oleh Admin. Cek status laporan Anda di menu 'Laporan Saya'.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32888"/>
            <a:ext cx="10728655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10332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532D"/>
                </a:solidFill>
                <a:latin typeface="Segoe UI"/>
              </a:defRPr>
            </a:pPr>
            <a:r>
              <a:t>2. Apa yang harus saya lakukan jika laporan saya berstatus REJECTED?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Laporan berstatus REJECTED menandakan foto buram, sampah tercampur residu kotor, atau tidak layak daur ulang. Anda dapat membuat laporan baru dengan foto yang lebih jelas dan sampah yang telah dibersihkan.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65576"/>
            <a:ext cx="10728655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38728"/>
            <a:ext cx="10332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532D"/>
                </a:solidFill>
                <a:latin typeface="Segoe UI"/>
              </a:defRPr>
            </a:pPr>
            <a:r>
              <a:t>3. Bagaimana cara mencairkan saldo yang terkumpul di akun saya?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Saldo di akun Anda adalah catatan tabungan resmi. Anda dapat mengajukan pencairan dana tunai atau transfer saat jadwal operasional penimbangan rutin di bank sampah unit wilayah Anda.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98264"/>
            <a:ext cx="10728655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71416"/>
            <a:ext cx="10332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532D"/>
                </a:solidFill>
                <a:latin typeface="Segoe UI"/>
              </a:defRPr>
            </a:pPr>
            <a:r>
              <a:t>4. Bagaimana jika Admin salah memasukkan berat timbangan?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Admin dapat kembali membuka menu Laporan -&gt; Detail Laporan dan memperbarui nilai berat (Kg) kapan saja. Nilai total harga akan otomatis terkalibrasi ulang.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30952"/>
            <a:ext cx="10728655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04104"/>
            <a:ext cx="10332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532D"/>
                </a:solidFill>
                <a:latin typeface="Segoe UI"/>
              </a:defRPr>
            </a:pPr>
            <a:r>
              <a:t>5. Apakah foto sampah wajib diunggah saat membuat laporan?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Ya, foto fisik sampah merupakan syarat wajib (*) di sistem sebagai bukti visual transparansi dan validasi sebelum petugas lapangan datang mengambil sampah.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822960"/>
            <a:ext cx="9997135" cy="5212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28016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  <a:latin typeface="Segoe UI"/>
              </a:defRPr>
            </a:pPr>
            <a:r>
              <a:t>♻️ TERIMA KASIH TELAH MENGGUNAKAN</a:t>
            </a:r>
          </a:p>
          <a:p>
            <a:pPr algn="ctr">
              <a:spcBef>
                <a:spcPts val="400"/>
              </a:spcBef>
              <a:defRPr sz="3600" b="1">
                <a:solidFill>
                  <a:srgbClr val="14532D"/>
                </a:solidFill>
                <a:latin typeface="Segoe UI"/>
              </a:defRPr>
            </a:pPr>
            <a:r>
              <a:t>BANK SAMPAH DIGITAL</a:t>
            </a:r>
          </a:p>
          <a:p>
            <a:pPr algn="ctr">
              <a:spcBef>
                <a:spcPts val="800"/>
              </a:spcBef>
              <a:defRPr sz="1300" i="1">
                <a:solidFill>
                  <a:srgbClr val="64748B"/>
                </a:solidFill>
                <a:latin typeface="Segoe UI"/>
              </a:defRPr>
            </a:pPr>
            <a:r>
              <a:t>“Solusi Cerdas untuk Masa Depan Bumi — Mengubah Sampah Menjadi Berkah dan Nilai Ekonomi”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383280"/>
            <a:ext cx="2651760" cy="1463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35204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532D"/>
                </a:solidFill>
                <a:latin typeface="Segoe UI"/>
              </a:defRPr>
            </a:pPr>
            <a:r>
              <a:t>🌐 Portal Resmi</a:t>
            </a:r>
          </a:p>
          <a:p>
            <a:pPr algn="ctr"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http://localhost:3000</a:t>
            </a:r>
            <a:br/>
            <a:r>
              <a:t>bank-sampah-digital.id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3383280"/>
            <a:ext cx="2651760" cy="1463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35204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532D"/>
                </a:solidFill>
                <a:latin typeface="Segoe UI"/>
              </a:defRPr>
            </a:pPr>
            <a:r>
              <a:t>📧 Bantuan &amp; Dukungan</a:t>
            </a:r>
          </a:p>
          <a:p>
            <a:pPr algn="ctr"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admin@banksampah.com</a:t>
            </a:r>
            <a:br/>
            <a:r>
              <a:t>support@banksampah.id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383280"/>
            <a:ext cx="2651760" cy="1463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35204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532D"/>
                </a:solidFill>
                <a:latin typeface="Segoe UI"/>
              </a:defRPr>
            </a:pPr>
            <a:r>
              <a:t>📍 Wilayah Operasional</a:t>
            </a:r>
          </a:p>
          <a:p>
            <a:pPr algn="ctr">
              <a:spcBef>
                <a:spcPts val="4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DKI Jakarta (Pusat, Barat,</a:t>
            </a:r>
            <a:br/>
            <a:r>
              <a:t>Selatan, Timur, Utara)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